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438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9750" y="2615505"/>
            <a:ext cx="8572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2563EB"/>
                </a:solidFill>
                <a:latin typeface="Inter SemiBold"/>
              </a:rPr>
              <a:t>ESTRATEGIA DE INGENIERÍA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9750" y="2872680"/>
            <a:ext cx="9001125" cy="569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0F172A"/>
                </a:solidFill>
                <a:latin typeface="Inter"/>
              </a:rPr>
              <a:t>Modelo Operativo de Code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9750" y="3670845"/>
            <a:ext cx="8572500" cy="8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2400" b="0" i="0" u="none" dirty="0" err="1">
                <a:solidFill>
                  <a:srgbClr val="64748B"/>
                </a:solidFill>
                <a:latin typeface="Inter"/>
              </a:rPr>
              <a:t>Revisión</a:t>
            </a:r>
            <a:r>
              <a:rPr sz="2400" b="0" i="0" u="none" dirty="0">
                <a:solidFill>
                  <a:srgbClr val="64748B"/>
                </a:solidFill>
                <a:latin typeface="Inter"/>
              </a:rPr>
              <a:t> de </a:t>
            </a:r>
            <a:r>
              <a:rPr sz="2400" b="0" i="0" u="none" dirty="0" err="1">
                <a:solidFill>
                  <a:srgbClr val="64748B"/>
                </a:solidFill>
                <a:latin typeface="Inter"/>
              </a:rPr>
              <a:t>código</a:t>
            </a:r>
            <a:r>
              <a:rPr sz="2400" b="0" i="0" u="none" dirty="0">
                <a:solidFill>
                  <a:srgbClr val="64748B"/>
                </a:solidFill>
                <a:latin typeface="Inter"/>
              </a:rPr>
              <a:t> y </a:t>
            </a:r>
            <a:r>
              <a:rPr sz="2400" b="0" i="0" u="none" dirty="0" err="1">
                <a:solidFill>
                  <a:srgbClr val="64748B"/>
                </a:solidFill>
                <a:latin typeface="Inter"/>
              </a:rPr>
              <a:t>gestión</a:t>
            </a:r>
            <a:r>
              <a:rPr sz="2400" b="0" i="0" u="none" dirty="0">
                <a:solidFill>
                  <a:srgbClr val="64748B"/>
                </a:solidFill>
                <a:latin typeface="Inter"/>
              </a:rPr>
              <a:t> de merges </a:t>
            </a:r>
            <a:r>
              <a:rPr sz="2400" b="0" i="0" u="none" dirty="0" err="1">
                <a:solidFill>
                  <a:srgbClr val="64748B"/>
                </a:solidFill>
                <a:latin typeface="Inter"/>
              </a:rPr>
              <a:t>en</a:t>
            </a:r>
            <a:r>
              <a:rPr sz="24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2400" b="0" i="0" u="none" dirty="0" err="1">
                <a:solidFill>
                  <a:srgbClr val="64748B"/>
                </a:solidFill>
                <a:latin typeface="Inter"/>
              </a:rPr>
              <a:t>arquitecturas</a:t>
            </a:r>
            <a:r>
              <a:rPr sz="2400" b="0" i="0" u="none" dirty="0">
                <a:solidFill>
                  <a:srgbClr val="64748B"/>
                </a:solidFill>
                <a:latin typeface="Inter"/>
              </a:rPr>
              <a:t> de </a:t>
            </a:r>
            <a:r>
              <a:rPr sz="2400" b="0" i="0" u="none" dirty="0" err="1">
                <a:solidFill>
                  <a:srgbClr val="64748B"/>
                </a:solidFill>
                <a:latin typeface="Inter"/>
              </a:rPr>
              <a:t>microservicios</a:t>
            </a:r>
            <a:r>
              <a:rPr sz="2400" b="0" i="0" u="none" dirty="0">
                <a:solidFill>
                  <a:srgbClr val="64748B"/>
                </a:solidFill>
                <a:latin typeface="Inter"/>
              </a:rPr>
              <a:t>: </a:t>
            </a:r>
            <a:endParaRPr lang="en-US" sz="2400" b="0" i="0" u="none" dirty="0">
              <a:solidFill>
                <a:srgbClr val="64748B"/>
              </a:solidFill>
              <a:latin typeface="Inter"/>
            </a:endParaRPr>
          </a:p>
          <a:p>
            <a:pPr algn="l">
              <a:lnSpc>
                <a:spcPts val="2250"/>
              </a:lnSpc>
            </a:pPr>
            <a:r>
              <a:rPr sz="2400" b="1" i="0" u="none" dirty="0" err="1">
                <a:solidFill>
                  <a:schemeClr val="accent6">
                    <a:lumMod val="75000"/>
                  </a:schemeClr>
                </a:solidFill>
                <a:latin typeface="Inter"/>
              </a:rPr>
              <a:t>Centralizado</a:t>
            </a:r>
            <a:r>
              <a:rPr sz="2400" b="0" i="0" u="none" dirty="0">
                <a:solidFill>
                  <a:schemeClr val="accent6">
                    <a:lumMod val="75000"/>
                  </a:schemeClr>
                </a:solidFill>
                <a:latin typeface="Inter"/>
              </a:rPr>
              <a:t> </a:t>
            </a:r>
            <a:r>
              <a:rPr sz="2400" b="0" i="0" u="none" dirty="0">
                <a:latin typeface="Inter"/>
              </a:rPr>
              <a:t>vs.</a:t>
            </a:r>
            <a:r>
              <a:rPr sz="2400" b="0" i="0" u="none" dirty="0">
                <a:solidFill>
                  <a:schemeClr val="accent6">
                    <a:lumMod val="75000"/>
                  </a:schemeClr>
                </a:solidFill>
                <a:latin typeface="Inter"/>
              </a:rPr>
              <a:t> </a:t>
            </a:r>
            <a:r>
              <a:rPr sz="2400" b="1" i="0" u="none" dirty="0" err="1">
                <a:solidFill>
                  <a:schemeClr val="accent4"/>
                </a:solidFill>
                <a:latin typeface="Inter"/>
              </a:rPr>
              <a:t>Distribuido</a:t>
            </a:r>
            <a:r>
              <a:rPr sz="2400" b="1" i="0" u="none" dirty="0">
                <a:solidFill>
                  <a:schemeClr val="accent4"/>
                </a:solidFill>
                <a:latin typeface="Inter"/>
              </a:rPr>
              <a:t> &amp; </a:t>
            </a:r>
            <a:r>
              <a:rPr sz="2400" b="1" i="0" u="none" dirty="0" err="1">
                <a:solidFill>
                  <a:schemeClr val="accent4"/>
                </a:solidFill>
                <a:latin typeface="Inter"/>
              </a:rPr>
              <a:t>Automatizado</a:t>
            </a:r>
            <a:r>
              <a:rPr sz="2400" b="1" i="0" u="none" dirty="0">
                <a:solidFill>
                  <a:schemeClr val="accent4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620267"/>
            <a:ext cx="10820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563EB"/>
                </a:solidFill>
                <a:latin typeface="Inter SemiBold"/>
              </a:rPr>
              <a:t>01 / DIAGNÓSTICO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934592"/>
            <a:ext cx="11361420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0F172A"/>
                </a:solidFill>
                <a:latin typeface="Inter"/>
              </a:rPr>
              <a:t>Los riesgos del modelo centralizado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27983"/>
            <a:ext cx="7143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Cuando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un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grupo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reducido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concentra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todas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las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revisiones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,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el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flujo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de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entregas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sufre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bloqueos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predecibles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y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pérdidas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de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calidad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60401"/>
            <a:ext cx="5257800" cy="270867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260401"/>
            <a:ext cx="5257800" cy="27086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609600"/>
            <a:ext cx="1136142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Impacto Operativo del Modelo Centralizado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225" y="2612826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38225" y="3298626"/>
            <a:ext cx="478059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Cuello de Botella Operativo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641526"/>
            <a:ext cx="455295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500" b="0" i="0" u="none" dirty="0">
                <a:solidFill>
                  <a:srgbClr val="475569"/>
                </a:solidFill>
                <a:latin typeface="Inter"/>
              </a:rPr>
              <a:t>El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equipo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central se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convierte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en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el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único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paso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obligatorio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antes de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cada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despliegue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. La cola de PRs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pendientes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aumenta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más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rápido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que la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capacidad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de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respuesta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a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medida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que la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arquitectura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escala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825" y="2612826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00825" y="3298626"/>
            <a:ext cx="478059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Fatiga Cognitiva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641526"/>
            <a:ext cx="4552950" cy="964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Alternar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continuamente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entre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distintos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dominios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,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lenguajes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y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contextos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agota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la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atención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del revisor,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propiciando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revisiones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superficiales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que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pasan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por alto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defectos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críticos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5387" y="2746176"/>
            <a:ext cx="1428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4175" y="2746176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620267"/>
            <a:ext cx="10820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563EB"/>
                </a:solidFill>
                <a:latin typeface="Inter SemiBold"/>
              </a:rPr>
              <a:t>02 / PROPUESTA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934592"/>
            <a:ext cx="11361420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0F172A"/>
                </a:solidFill>
                <a:latin typeface="Inter"/>
              </a:rPr>
              <a:t>Un cambio de paradigma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27983"/>
            <a:ext cx="7143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Evolucionar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de un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comité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central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aprobador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a un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modelo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que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distribuye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la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responsabilidad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e integra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validaciones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automáticas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D7E2D6-5B13-4CDD-B26B-44C24F964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694" y="395785"/>
            <a:ext cx="2942550" cy="29342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51C66D-B1B6-4DB7-9B59-3F30A61AF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22" y="3330054"/>
            <a:ext cx="3242893" cy="35279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00300"/>
            <a:ext cx="3454449" cy="24288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849" y="2400300"/>
            <a:ext cx="3454449" cy="2428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1899" y="2400300"/>
            <a:ext cx="3454449" cy="2428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9600"/>
            <a:ext cx="1136142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El Modelo Distribuido y Automatizado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2714625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2025" y="3362325"/>
            <a:ext cx="3047099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Inter"/>
              </a:rPr>
              <a:t>CODEOWNERS por </a:t>
            </a:r>
            <a:r>
              <a:rPr lang="en-US" sz="1350" b="1" i="0" u="none" dirty="0" err="1">
                <a:solidFill>
                  <a:srgbClr val="0F172A"/>
                </a:solidFill>
                <a:latin typeface="Inter"/>
              </a:rPr>
              <a:t>dominio</a:t>
            </a:r>
            <a:r>
              <a:rPr lang="en-US" sz="1350" b="1" i="0" u="none" dirty="0">
                <a:solidFill>
                  <a:srgbClr val="0F172A"/>
                </a:solidFill>
                <a:latin typeface="Inter"/>
              </a:rPr>
              <a:t>/canal</a:t>
            </a:r>
            <a:endParaRPr sz="135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2025" y="3657600"/>
            <a:ext cx="2901999" cy="637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 err="1">
                <a:solidFill>
                  <a:srgbClr val="64748B"/>
                </a:solidFill>
                <a:latin typeface="Inter"/>
              </a:rPr>
              <a:t>Cada</a:t>
            </a:r>
            <a:r>
              <a:rPr sz="1125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64748B"/>
                </a:solidFill>
                <a:latin typeface="Inter"/>
              </a:rPr>
              <a:t>microservicio</a:t>
            </a:r>
            <a:r>
              <a:rPr sz="1125" b="0" i="0" u="none" dirty="0">
                <a:solidFill>
                  <a:srgbClr val="64748B"/>
                </a:solidFill>
                <a:latin typeface="Inter"/>
              </a:rPr>
              <a:t> define sus </a:t>
            </a:r>
            <a:r>
              <a:rPr sz="1125" b="0" i="0" u="none" dirty="0" err="1">
                <a:solidFill>
                  <a:srgbClr val="64748B"/>
                </a:solidFill>
                <a:latin typeface="Inter"/>
              </a:rPr>
              <a:t>propios</a:t>
            </a:r>
            <a:r>
              <a:rPr sz="1125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64748B"/>
                </a:solidFill>
                <a:latin typeface="Inter"/>
              </a:rPr>
              <a:t>dueños</a:t>
            </a:r>
            <a:r>
              <a:rPr sz="1125" b="0" i="0" u="none" dirty="0">
                <a:solidFill>
                  <a:srgbClr val="64748B"/>
                </a:solidFill>
                <a:latin typeface="Inter"/>
              </a:rPr>
              <a:t>. </a:t>
            </a:r>
            <a:r>
              <a:rPr sz="1125" b="1" i="0" u="none" dirty="0">
                <a:solidFill>
                  <a:schemeClr val="accent4"/>
                </a:solidFill>
                <a:latin typeface="Inter"/>
              </a:rPr>
              <a:t>La </a:t>
            </a:r>
            <a:r>
              <a:rPr sz="1125" b="1" i="0" u="none" dirty="0" err="1">
                <a:solidFill>
                  <a:schemeClr val="accent4"/>
                </a:solidFill>
                <a:latin typeface="Inter"/>
              </a:rPr>
              <a:t>revisión</a:t>
            </a:r>
            <a:r>
              <a:rPr sz="1125" b="1" i="0" u="none" dirty="0">
                <a:solidFill>
                  <a:schemeClr val="accent4"/>
                </a:solidFill>
                <a:latin typeface="Inter"/>
              </a:rPr>
              <a:t> </a:t>
            </a:r>
            <a:r>
              <a:rPr sz="1125" b="1" i="0" u="none" dirty="0" err="1">
                <a:solidFill>
                  <a:schemeClr val="accent4"/>
                </a:solidFill>
                <a:latin typeface="Inter"/>
              </a:rPr>
              <a:t>queda</a:t>
            </a:r>
            <a:r>
              <a:rPr sz="1125" b="1" i="0" u="none" dirty="0">
                <a:solidFill>
                  <a:schemeClr val="accent4"/>
                </a:solidFill>
                <a:latin typeface="Inter"/>
              </a:rPr>
              <a:t> a cargo de </a:t>
            </a:r>
            <a:r>
              <a:rPr sz="1125" b="1" i="0" u="none" dirty="0" err="1">
                <a:solidFill>
                  <a:schemeClr val="accent4"/>
                </a:solidFill>
                <a:latin typeface="Inter"/>
              </a:rPr>
              <a:t>quien</a:t>
            </a:r>
            <a:r>
              <a:rPr sz="1125" b="1" i="0" u="none" dirty="0">
                <a:solidFill>
                  <a:schemeClr val="accent4"/>
                </a:solidFill>
                <a:latin typeface="Inter"/>
              </a:rPr>
              <a:t> </a:t>
            </a:r>
            <a:r>
              <a:rPr sz="1125" b="1" i="0" u="none" dirty="0" err="1">
                <a:solidFill>
                  <a:schemeClr val="accent4"/>
                </a:solidFill>
                <a:latin typeface="Inter"/>
              </a:rPr>
              <a:t>posee</a:t>
            </a:r>
            <a:r>
              <a:rPr sz="1125" b="1" i="0" u="none" dirty="0">
                <a:solidFill>
                  <a:schemeClr val="accent4"/>
                </a:solidFill>
                <a:latin typeface="Inter"/>
              </a:rPr>
              <a:t> </a:t>
            </a:r>
            <a:r>
              <a:rPr sz="1125" b="1" i="0" u="none" dirty="0" err="1">
                <a:solidFill>
                  <a:schemeClr val="accent4"/>
                </a:solidFill>
                <a:latin typeface="Inter"/>
              </a:rPr>
              <a:t>el</a:t>
            </a:r>
            <a:r>
              <a:rPr sz="1125" b="1" i="0" u="none" dirty="0">
                <a:solidFill>
                  <a:schemeClr val="accent4"/>
                </a:solidFill>
                <a:latin typeface="Inter"/>
              </a:rPr>
              <a:t> </a:t>
            </a:r>
            <a:r>
              <a:rPr sz="1125" b="1" i="0" u="none" dirty="0" err="1">
                <a:solidFill>
                  <a:schemeClr val="accent4"/>
                </a:solidFill>
                <a:latin typeface="Inter"/>
              </a:rPr>
              <a:t>contexto</a:t>
            </a:r>
            <a:r>
              <a:rPr sz="1125" b="1" i="0" u="none" dirty="0">
                <a:solidFill>
                  <a:schemeClr val="accent4"/>
                </a:solidFill>
                <a:latin typeface="Inter"/>
              </a:rPr>
              <a:t> </a:t>
            </a:r>
            <a:r>
              <a:rPr sz="1125" b="1" i="0" u="none" dirty="0" err="1">
                <a:solidFill>
                  <a:schemeClr val="accent4"/>
                </a:solidFill>
                <a:latin typeface="Inter"/>
              </a:rPr>
              <a:t>técnico</a:t>
            </a:r>
            <a:r>
              <a:rPr sz="1125" b="1" i="0" u="none" dirty="0">
                <a:solidFill>
                  <a:schemeClr val="accent4"/>
                </a:solidFill>
                <a:latin typeface="Inter"/>
              </a:rPr>
              <a:t> y </a:t>
            </a:r>
            <a:r>
              <a:rPr sz="1125" b="1" i="0" u="none" dirty="0" err="1">
                <a:solidFill>
                  <a:schemeClr val="accent4"/>
                </a:solidFill>
                <a:latin typeface="Inter"/>
              </a:rPr>
              <a:t>funcional</a:t>
            </a:r>
            <a:r>
              <a:rPr sz="1125" b="1" i="0" u="none" dirty="0">
                <a:solidFill>
                  <a:schemeClr val="accent4"/>
                </a:solidFill>
                <a:latin typeface="Inter"/>
              </a:rPr>
              <a:t> </a:t>
            </a:r>
            <a:r>
              <a:rPr sz="1125" b="1" i="0" u="none" dirty="0" err="1">
                <a:solidFill>
                  <a:schemeClr val="accent4"/>
                </a:solidFill>
                <a:latin typeface="Inter"/>
              </a:rPr>
              <a:t>directo</a:t>
            </a:r>
            <a:r>
              <a:rPr sz="1125" b="1" i="0" u="none" dirty="0">
                <a:solidFill>
                  <a:schemeClr val="accent4"/>
                </a:solidFill>
                <a:latin typeface="Inter"/>
              </a:rPr>
              <a:t>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074" y="2714625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5074" y="3362325"/>
            <a:ext cx="3047099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50" b="1" i="0" u="none" dirty="0" err="1">
                <a:solidFill>
                  <a:srgbClr val="0F172A"/>
                </a:solidFill>
                <a:latin typeface="Inter"/>
              </a:rPr>
              <a:t>Complementar</a:t>
            </a:r>
            <a:r>
              <a:rPr lang="en-US" sz="135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Inter"/>
              </a:rPr>
              <a:t>Validaciones</a:t>
            </a:r>
            <a:r>
              <a:rPr sz="135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Inter"/>
              </a:rPr>
              <a:t>en</a:t>
            </a:r>
            <a:r>
              <a:rPr sz="1350" b="1" i="0" u="none" dirty="0">
                <a:solidFill>
                  <a:srgbClr val="0F172A"/>
                </a:solidFill>
                <a:latin typeface="Inter"/>
              </a:rPr>
              <a:t> CI/CD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657600"/>
            <a:ext cx="2901999" cy="15096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b="1" i="0" u="none" dirty="0" err="1">
                <a:solidFill>
                  <a:schemeClr val="accent6"/>
                </a:solidFill>
                <a:latin typeface="Inter"/>
              </a:rPr>
              <a:t>Agregar</a:t>
            </a:r>
            <a:r>
              <a:rPr lang="en-US" sz="1125" b="1" i="0" u="none" dirty="0">
                <a:solidFill>
                  <a:schemeClr val="accent6"/>
                </a:solidFill>
                <a:latin typeface="Inter"/>
              </a:rPr>
              <a:t> a los  </a:t>
            </a:r>
            <a:r>
              <a:rPr sz="1125" b="1" i="0" u="none" dirty="0">
                <a:solidFill>
                  <a:schemeClr val="accent6"/>
                </a:solidFill>
                <a:latin typeface="Inter"/>
              </a:rPr>
              <a:t>Pipelines </a:t>
            </a:r>
            <a:r>
              <a:rPr lang="en-US" sz="1125" b="1" i="0" u="none" dirty="0">
                <a:solidFill>
                  <a:schemeClr val="accent6"/>
                </a:solidFill>
                <a:latin typeface="Inter"/>
              </a:rPr>
              <a:t>la </a:t>
            </a:r>
            <a:r>
              <a:rPr sz="1125" b="1" i="0" u="none" dirty="0" err="1">
                <a:solidFill>
                  <a:schemeClr val="accent6"/>
                </a:solidFill>
                <a:latin typeface="Inter"/>
              </a:rPr>
              <a:t>ejecu</a:t>
            </a:r>
            <a:r>
              <a:rPr lang="en-US" sz="1125" b="1" i="0" u="none" dirty="0" err="1">
                <a:solidFill>
                  <a:schemeClr val="accent6"/>
                </a:solidFill>
                <a:latin typeface="Inter"/>
              </a:rPr>
              <a:t>cion</a:t>
            </a:r>
            <a:r>
              <a:rPr lang="en-US" sz="1125" b="1" i="0" u="none" dirty="0">
                <a:solidFill>
                  <a:schemeClr val="accent6"/>
                </a:solidFill>
                <a:latin typeface="Inter"/>
              </a:rPr>
              <a:t> de </a:t>
            </a:r>
            <a:r>
              <a:rPr lang="en-US" sz="1125" b="1" i="0" u="none" dirty="0" err="1">
                <a:solidFill>
                  <a:schemeClr val="accent6"/>
                </a:solidFill>
                <a:latin typeface="Inter"/>
              </a:rPr>
              <a:t>validaciones</a:t>
            </a:r>
            <a:r>
              <a:rPr lang="en-US" sz="1125" b="1" i="0" u="none" dirty="0">
                <a:solidFill>
                  <a:schemeClr val="accent6"/>
                </a:solidFill>
                <a:latin typeface="Inter"/>
              </a:rPr>
              <a:t> </a:t>
            </a:r>
            <a:r>
              <a:rPr lang="en-US" sz="1125" b="1" i="0" u="none" dirty="0" err="1">
                <a:solidFill>
                  <a:schemeClr val="accent6"/>
                </a:solidFill>
                <a:latin typeface="Inter"/>
              </a:rPr>
              <a:t>arquitectonicas</a:t>
            </a:r>
            <a:r>
              <a:rPr lang="en-US" sz="1125" b="1" i="0" u="none" dirty="0">
                <a:solidFill>
                  <a:schemeClr val="accent6"/>
                </a:solidFill>
                <a:latin typeface="Inter"/>
              </a:rPr>
              <a:t>,</a:t>
            </a:r>
            <a:r>
              <a:rPr sz="1125" b="1" i="0" u="none" dirty="0">
                <a:solidFill>
                  <a:schemeClr val="accent6"/>
                </a:solidFill>
                <a:latin typeface="Inter"/>
              </a:rPr>
              <a:t> </a:t>
            </a:r>
            <a:r>
              <a:rPr lang="en-US" sz="1125" b="1" i="0" u="none" dirty="0">
                <a:solidFill>
                  <a:schemeClr val="accent6"/>
                </a:solidFill>
                <a:latin typeface="Inter"/>
              </a:rPr>
              <a:t>revision de </a:t>
            </a:r>
            <a:r>
              <a:rPr lang="en-US" sz="1125" b="1" i="0" u="none" dirty="0" err="1">
                <a:solidFill>
                  <a:schemeClr val="accent6"/>
                </a:solidFill>
                <a:latin typeface="Inter"/>
              </a:rPr>
              <a:t>configuraciones</a:t>
            </a:r>
            <a:r>
              <a:rPr lang="en-US" sz="1125" b="1" i="0" u="none" dirty="0">
                <a:solidFill>
                  <a:schemeClr val="accent6"/>
                </a:solidFill>
                <a:latin typeface="Inter"/>
              </a:rPr>
              <a:t>, </a:t>
            </a:r>
            <a:r>
              <a:rPr sz="1125" b="1" i="0" u="none" dirty="0" err="1">
                <a:solidFill>
                  <a:schemeClr val="accent6"/>
                </a:solidFill>
                <a:latin typeface="Inter"/>
              </a:rPr>
              <a:t>pruebas</a:t>
            </a:r>
            <a:r>
              <a:rPr lang="en-US" sz="1125" b="1" i="0" u="none" dirty="0">
                <a:solidFill>
                  <a:schemeClr val="accent6"/>
                </a:solidFill>
                <a:latin typeface="Inter"/>
              </a:rPr>
              <a:t> de </a:t>
            </a:r>
            <a:r>
              <a:rPr lang="en-US" sz="1125" b="1" i="0" u="none" dirty="0" err="1">
                <a:solidFill>
                  <a:schemeClr val="accent6"/>
                </a:solidFill>
                <a:latin typeface="Inter"/>
              </a:rPr>
              <a:t>integraci</a:t>
            </a:r>
            <a:r>
              <a:rPr lang="en-US" sz="1125" b="1" dirty="0" err="1">
                <a:solidFill>
                  <a:schemeClr val="accent6"/>
                </a:solidFill>
                <a:latin typeface="Inter"/>
              </a:rPr>
              <a:t>on</a:t>
            </a:r>
            <a:r>
              <a:rPr lang="en-US" sz="1125" b="1" dirty="0">
                <a:solidFill>
                  <a:schemeClr val="accent6"/>
                </a:solidFill>
                <a:latin typeface="Inter"/>
              </a:rPr>
              <a:t>, </a:t>
            </a:r>
            <a:r>
              <a:rPr lang="en-US" sz="1125" b="1" dirty="0" err="1">
                <a:solidFill>
                  <a:schemeClr val="accent6"/>
                </a:solidFill>
                <a:latin typeface="Inter"/>
              </a:rPr>
              <a:t>analisis</a:t>
            </a:r>
            <a:r>
              <a:rPr lang="en-US" sz="1125" b="1" dirty="0">
                <a:solidFill>
                  <a:schemeClr val="accent6"/>
                </a:solidFill>
                <a:latin typeface="Inter"/>
              </a:rPr>
              <a:t> de </a:t>
            </a:r>
            <a:r>
              <a:rPr lang="en-US" sz="1125" b="1" dirty="0" err="1">
                <a:solidFill>
                  <a:schemeClr val="accent6"/>
                </a:solidFill>
                <a:latin typeface="Inter"/>
              </a:rPr>
              <a:t>mutacion</a:t>
            </a:r>
            <a:r>
              <a:rPr lang="en-US" sz="1125" b="1" dirty="0">
                <a:solidFill>
                  <a:schemeClr val="accent6"/>
                </a:solidFill>
                <a:latin typeface="Inter"/>
              </a:rPr>
              <a:t> de test,</a:t>
            </a:r>
            <a:r>
              <a:rPr lang="en-US" sz="1125" dirty="0">
                <a:solidFill>
                  <a:srgbClr val="64748B"/>
                </a:solidFill>
                <a:latin typeface="Inter"/>
              </a:rPr>
              <a:t> </a:t>
            </a:r>
            <a:r>
              <a:rPr lang="en-US" sz="1125" dirty="0" err="1">
                <a:solidFill>
                  <a:srgbClr val="64748B"/>
                </a:solidFill>
                <a:latin typeface="Inter"/>
              </a:rPr>
              <a:t>adicional</a:t>
            </a:r>
            <a:r>
              <a:rPr lang="en-US" sz="1125" dirty="0">
                <a:solidFill>
                  <a:srgbClr val="64748B"/>
                </a:solidFill>
                <a:latin typeface="Inter"/>
              </a:rPr>
              <a:t> al </a:t>
            </a:r>
            <a:r>
              <a:rPr sz="1125" b="0" i="0" u="none" dirty="0" err="1">
                <a:solidFill>
                  <a:srgbClr val="64748B"/>
                </a:solidFill>
                <a:latin typeface="Inter"/>
              </a:rPr>
              <a:t>análisis</a:t>
            </a:r>
            <a:r>
              <a:rPr sz="1125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64748B"/>
                </a:solidFill>
                <a:latin typeface="Inter"/>
              </a:rPr>
              <a:t>estático</a:t>
            </a:r>
            <a:r>
              <a:rPr sz="1125" b="0" i="0" u="none" dirty="0">
                <a:solidFill>
                  <a:srgbClr val="64748B"/>
                </a:solidFill>
                <a:latin typeface="Inter"/>
              </a:rPr>
              <a:t> de </a:t>
            </a:r>
            <a:r>
              <a:rPr sz="1125" b="0" i="0" u="none" dirty="0" err="1">
                <a:solidFill>
                  <a:srgbClr val="64748B"/>
                </a:solidFill>
                <a:latin typeface="Inter"/>
              </a:rPr>
              <a:t>código</a:t>
            </a:r>
            <a:r>
              <a:rPr sz="1125" b="0" i="0" u="none" dirty="0">
                <a:solidFill>
                  <a:srgbClr val="64748B"/>
                </a:solidFill>
                <a:latin typeface="Inter"/>
              </a:rPr>
              <a:t> y </a:t>
            </a:r>
            <a:r>
              <a:rPr sz="1125" b="0" i="0" u="none" dirty="0" err="1">
                <a:solidFill>
                  <a:srgbClr val="64748B"/>
                </a:solidFill>
                <a:latin typeface="Inter"/>
              </a:rPr>
              <a:t>verificación</a:t>
            </a:r>
            <a:r>
              <a:rPr sz="1125" b="0" i="0" u="none" dirty="0">
                <a:solidFill>
                  <a:srgbClr val="64748B"/>
                </a:solidFill>
                <a:latin typeface="Inter"/>
              </a:rPr>
              <a:t> de </a:t>
            </a:r>
            <a:r>
              <a:rPr sz="1125" b="0" i="0" u="none" dirty="0" err="1">
                <a:solidFill>
                  <a:srgbClr val="64748B"/>
                </a:solidFill>
                <a:latin typeface="Inter"/>
              </a:rPr>
              <a:t>cobertura</a:t>
            </a:r>
            <a:r>
              <a:rPr sz="1125" b="0" i="0" u="none" dirty="0">
                <a:solidFill>
                  <a:srgbClr val="64748B"/>
                </a:solidFill>
                <a:latin typeface="Inter"/>
              </a:rPr>
              <a:t> antes de la </a:t>
            </a:r>
            <a:r>
              <a:rPr sz="1125" b="0" i="0" u="none" dirty="0" err="1">
                <a:solidFill>
                  <a:srgbClr val="64748B"/>
                </a:solidFill>
                <a:latin typeface="Inter"/>
              </a:rPr>
              <a:t>revisión</a:t>
            </a:r>
            <a:r>
              <a:rPr sz="1125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64748B"/>
                </a:solidFill>
                <a:latin typeface="Inter"/>
              </a:rPr>
              <a:t>humana</a:t>
            </a:r>
            <a:r>
              <a:rPr lang="en-US" sz="1125" dirty="0">
                <a:solidFill>
                  <a:srgbClr val="64748B"/>
                </a:solidFill>
                <a:latin typeface="Inter"/>
              </a:rPr>
              <a:t>.</a:t>
            </a:r>
          </a:p>
          <a:p>
            <a:pPr algn="l">
              <a:lnSpc>
                <a:spcPts val="1687"/>
              </a:lnSpc>
            </a:pPr>
            <a:r>
              <a:rPr lang="en-US" sz="1125" b="0" i="0" u="none" dirty="0">
                <a:solidFill>
                  <a:srgbClr val="64748B"/>
                </a:solidFill>
                <a:latin typeface="Inter"/>
              </a:rPr>
              <a:t>A</a:t>
            </a:r>
            <a:r>
              <a:rPr lang="es-MX" sz="1125" b="0" i="0" u="none" dirty="0" err="1">
                <a:solidFill>
                  <a:srgbClr val="64748B"/>
                </a:solidFill>
                <a:latin typeface="Inter"/>
              </a:rPr>
              <a:t>ñadir</a:t>
            </a:r>
            <a:r>
              <a:rPr lang="es-MX" sz="1125" b="0" i="0" u="none" dirty="0">
                <a:solidFill>
                  <a:srgbClr val="64748B"/>
                </a:solidFill>
                <a:latin typeface="Inter"/>
              </a:rPr>
              <a:t> clasificación del cambio</a:t>
            </a:r>
            <a:endParaRPr sz="1125" b="0" i="0" u="none" dirty="0">
              <a:solidFill>
                <a:srgbClr val="64748B"/>
              </a:solidFill>
              <a:latin typeface="Inter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8124" y="2714625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8124" y="3362325"/>
            <a:ext cx="304709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Protección de Ramas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8124" y="3657600"/>
            <a:ext cx="2901999" cy="637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 err="1">
                <a:solidFill>
                  <a:srgbClr val="64748B"/>
                </a:solidFill>
                <a:latin typeface="Inter"/>
              </a:rPr>
              <a:t>Reglas</a:t>
            </a:r>
            <a:r>
              <a:rPr sz="1125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64748B"/>
                </a:solidFill>
                <a:latin typeface="Inter"/>
              </a:rPr>
              <a:t>estrictas</a:t>
            </a:r>
            <a:r>
              <a:rPr sz="1125" b="0" i="0" u="none" dirty="0">
                <a:solidFill>
                  <a:srgbClr val="64748B"/>
                </a:solidFill>
                <a:latin typeface="Inter"/>
              </a:rPr>
              <a:t> de Branch Protection </a:t>
            </a:r>
            <a:r>
              <a:rPr sz="1125" b="0" i="0" u="none" dirty="0" err="1">
                <a:solidFill>
                  <a:srgbClr val="64748B"/>
                </a:solidFill>
                <a:latin typeface="Inter"/>
              </a:rPr>
              <a:t>requieren</a:t>
            </a:r>
            <a:r>
              <a:rPr sz="1125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125" b="1" i="0" u="none" dirty="0">
                <a:solidFill>
                  <a:schemeClr val="accent1"/>
                </a:solidFill>
                <a:latin typeface="Inter"/>
              </a:rPr>
              <a:t>checks </a:t>
            </a:r>
            <a:r>
              <a:rPr sz="1125" b="1" i="0" u="none" dirty="0" err="1">
                <a:solidFill>
                  <a:schemeClr val="accent1"/>
                </a:solidFill>
                <a:latin typeface="Inter"/>
              </a:rPr>
              <a:t>automáticos</a:t>
            </a:r>
            <a:r>
              <a:rPr sz="1125" b="1" i="0" u="none" dirty="0">
                <a:solidFill>
                  <a:schemeClr val="accent1"/>
                </a:solidFill>
                <a:latin typeface="Inter"/>
              </a:rPr>
              <a:t> </a:t>
            </a:r>
            <a:r>
              <a:rPr sz="1125" b="1" i="0" u="none" dirty="0" err="1">
                <a:solidFill>
                  <a:schemeClr val="accent1"/>
                </a:solidFill>
                <a:latin typeface="Inter"/>
              </a:rPr>
              <a:t>en</a:t>
            </a:r>
            <a:r>
              <a:rPr sz="1125" b="1" i="0" u="none" dirty="0">
                <a:solidFill>
                  <a:schemeClr val="accent1"/>
                </a:solidFill>
                <a:latin typeface="Inter"/>
              </a:rPr>
              <a:t> </a:t>
            </a:r>
            <a:r>
              <a:rPr sz="1125" b="1" i="0" u="none" dirty="0" err="1">
                <a:solidFill>
                  <a:schemeClr val="accent1"/>
                </a:solidFill>
                <a:latin typeface="Inter"/>
              </a:rPr>
              <a:t>verde</a:t>
            </a:r>
            <a:r>
              <a:rPr sz="1125" b="1" i="0" u="none" dirty="0">
                <a:solidFill>
                  <a:schemeClr val="accent1"/>
                </a:solidFill>
                <a:latin typeface="Inter"/>
              </a:rPr>
              <a:t> y </a:t>
            </a:r>
            <a:r>
              <a:rPr sz="1125" b="1" i="0" u="none" dirty="0" err="1">
                <a:solidFill>
                  <a:schemeClr val="accent1"/>
                </a:solidFill>
                <a:latin typeface="Inter"/>
              </a:rPr>
              <a:t>aprobación</a:t>
            </a:r>
            <a:r>
              <a:rPr sz="1125" b="1" i="0" u="none" dirty="0">
                <a:solidFill>
                  <a:schemeClr val="accent1"/>
                </a:solidFill>
                <a:latin typeface="Inter"/>
              </a:rPr>
              <a:t> </a:t>
            </a:r>
            <a:r>
              <a:rPr sz="1125" b="1" i="0" u="none" dirty="0" err="1">
                <a:solidFill>
                  <a:schemeClr val="accent1"/>
                </a:solidFill>
                <a:latin typeface="Inter"/>
              </a:rPr>
              <a:t>explícita</a:t>
            </a:r>
            <a:r>
              <a:rPr sz="1125" b="1" i="0" u="none" dirty="0">
                <a:solidFill>
                  <a:schemeClr val="accent1"/>
                </a:solidFill>
                <a:latin typeface="Inter"/>
              </a:rPr>
              <a:t> antes de </a:t>
            </a:r>
            <a:r>
              <a:rPr sz="1125" b="1" i="0" u="none" dirty="0" err="1">
                <a:solidFill>
                  <a:schemeClr val="accent1"/>
                </a:solidFill>
                <a:latin typeface="Inter"/>
              </a:rPr>
              <a:t>fusionar</a:t>
            </a:r>
            <a:r>
              <a:rPr sz="1125" b="1" i="0" u="none" dirty="0">
                <a:solidFill>
                  <a:schemeClr val="accent1"/>
                </a:solidFill>
                <a:latin typeface="Inter"/>
              </a:rPr>
              <a:t> a main</a:t>
            </a:r>
            <a:r>
              <a:rPr sz="1125" b="0" i="0" u="none" dirty="0">
                <a:solidFill>
                  <a:srgbClr val="64748B"/>
                </a:solidFill>
                <a:latin typeface="Inter"/>
              </a:rPr>
              <a:t>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1562" y="2847975"/>
            <a:ext cx="23812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612" y="2847975"/>
            <a:ext cx="238125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474" y="2847975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90762"/>
            <a:ext cx="5295900" cy="12096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2290762"/>
            <a:ext cx="5295900" cy="1209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29037"/>
            <a:ext cx="5295900" cy="1209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3729037"/>
            <a:ext cx="5295900" cy="12096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09600"/>
            <a:ext cx="1136142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Inter"/>
              </a:rPr>
              <a:t>Estrategia</a:t>
            </a:r>
            <a:r>
              <a:rPr sz="2400" b="1" i="0" u="none" dirty="0">
                <a:solidFill>
                  <a:srgbClr val="0F172A"/>
                </a:solidFill>
                <a:latin typeface="Inter"/>
              </a:rPr>
              <a:t> de </a:t>
            </a:r>
            <a:r>
              <a:rPr sz="2400" b="1" i="0" u="none" dirty="0" err="1">
                <a:solidFill>
                  <a:srgbClr val="0F172A"/>
                </a:solidFill>
                <a:latin typeface="Inter"/>
              </a:rPr>
              <a:t>Validación</a:t>
            </a:r>
            <a:r>
              <a:rPr sz="2400" b="1" i="0" u="none" dirty="0">
                <a:solidFill>
                  <a:srgbClr val="0F172A"/>
                </a:solidFill>
                <a:latin typeface="Inter"/>
              </a:rPr>
              <a:t> para Staff </a:t>
            </a:r>
            <a:r>
              <a:rPr lang="en-US" sz="2400" b="1" i="0" u="none" dirty="0" err="1">
                <a:solidFill>
                  <a:srgbClr val="0F172A"/>
                </a:solidFill>
                <a:latin typeface="Inter"/>
              </a:rPr>
              <a:t>Interno</a:t>
            </a:r>
            <a:r>
              <a:rPr lang="en-US" sz="2400" b="1" i="0" u="none" dirty="0">
                <a:solidFill>
                  <a:srgbClr val="0F172A"/>
                </a:solidFill>
                <a:latin typeface="Inter"/>
              </a:rPr>
              <a:t> (</a:t>
            </a:r>
            <a:r>
              <a:rPr lang="en-US" sz="2400" b="1" i="0" u="none" dirty="0" err="1">
                <a:solidFill>
                  <a:srgbClr val="0F172A"/>
                </a:solidFill>
                <a:latin typeface="Inter"/>
              </a:rPr>
              <a:t>capacidad</a:t>
            </a:r>
            <a:r>
              <a:rPr lang="en-US" sz="24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lang="en-US" sz="2400" b="1" i="0" u="none" dirty="0" err="1">
                <a:solidFill>
                  <a:srgbClr val="0F172A"/>
                </a:solidFill>
                <a:latin typeface="Inter"/>
              </a:rPr>
              <a:t>reducida</a:t>
            </a:r>
            <a:r>
              <a:rPr lang="en-US" sz="2400" b="1" i="0" u="none" dirty="0">
                <a:solidFill>
                  <a:srgbClr val="0F172A"/>
                </a:solidFill>
                <a:latin typeface="Inter"/>
              </a:rPr>
              <a:t>)</a:t>
            </a:r>
            <a:endParaRPr sz="2400" b="1" i="0" u="none" dirty="0">
              <a:solidFill>
                <a:srgbClr val="0F172A"/>
              </a:solidFill>
              <a:latin typeface="Inter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2557462"/>
            <a:ext cx="400050" cy="4000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2557462"/>
            <a:ext cx="400050" cy="400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3995737"/>
            <a:ext cx="400050" cy="4000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3995737"/>
            <a:ext cx="400050" cy="4000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987" y="2671762"/>
            <a:ext cx="219075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43050" y="2557462"/>
            <a:ext cx="438054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0F172A"/>
                </a:solidFill>
                <a:latin typeface="Inter SemiBold"/>
              </a:rPr>
              <a:t>Alineación Arquitectónica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43050" y="2805112"/>
            <a:ext cx="41719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Garantizar que los cambios respeten los límites de dominio y los patrones de comunicación entre servicios.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2671762"/>
            <a:ext cx="15240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67550" y="2557462"/>
            <a:ext cx="438054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0F172A"/>
                </a:solidFill>
                <a:latin typeface="Inter SemiBold"/>
              </a:rPr>
              <a:t>Impacto en Base de 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7550" y="2805112"/>
            <a:ext cx="41719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Evaluar migraciones, cambios de esquema y la ejecución de estrategias de rollback seguras.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850" y="4110037"/>
            <a:ext cx="133350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43050" y="3995737"/>
            <a:ext cx="438054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0F172A"/>
                </a:solidFill>
                <a:latin typeface="Inter SemiBold"/>
              </a:rPr>
              <a:t>Contratos de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3050" y="4243387"/>
            <a:ext cx="41719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Verificar compatibilidad hacia atrás en los contratos de interfaz sin interrumpir consumidores activos.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0825" y="4110037"/>
            <a:ext cx="15240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67550" y="3995737"/>
            <a:ext cx="438054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0F172A"/>
                </a:solidFill>
                <a:latin typeface="Inter SemiBold"/>
              </a:rPr>
              <a:t>Seguridad Crítica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7550" y="4243387"/>
            <a:ext cx="41719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Foco prioritario en mecanismos de autenticación, autorización y protección de datos sensibles.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47875" y="2203251"/>
            <a:ext cx="8858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MX" sz="900" b="0" i="0" u="none" dirty="0">
                <a:solidFill>
                  <a:srgbClr val="2563EB"/>
                </a:solidFill>
                <a:latin typeface="Inter SemiBold"/>
              </a:rPr>
              <a:t>PRIORIZACION</a:t>
            </a:r>
            <a:endParaRPr sz="900" b="0" i="0" u="none" dirty="0">
              <a:solidFill>
                <a:srgbClr val="2563EB"/>
              </a:solidFill>
              <a:latin typeface="Inter Semi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47875" y="2460426"/>
            <a:ext cx="8501062" cy="525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lang="es-MX" sz="3600" b="1" i="0" u="none" dirty="0" err="1">
                <a:solidFill>
                  <a:srgbClr val="0F172A"/>
                </a:solidFill>
                <a:latin typeface="Inter"/>
              </a:rPr>
              <a:t>Analisis</a:t>
            </a:r>
            <a:r>
              <a:rPr lang="es-MX" sz="3600" b="1" i="0" u="none" dirty="0">
                <a:solidFill>
                  <a:srgbClr val="0F172A"/>
                </a:solidFill>
                <a:latin typeface="Inter"/>
              </a:rPr>
              <a:t> de Proyectos Sensibles</a:t>
            </a:r>
            <a:endParaRPr sz="3600" b="1" i="0" u="none" dirty="0">
              <a:solidFill>
                <a:srgbClr val="0F172A"/>
              </a:solidFill>
              <a:latin typeface="Inter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2C675D2-11B9-4439-AB81-D6B7ED7236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418165"/>
              </p:ext>
            </p:extLst>
          </p:nvPr>
        </p:nvGraphicFramePr>
        <p:xfrm>
          <a:off x="1869744" y="3211273"/>
          <a:ext cx="8229600" cy="35966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894305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94402131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207788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Nivel de Riesgo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Tipo de Cambio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Nivel de Revisión Interna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264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Crítico (100% Revisión)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>
                          <a:effectLst/>
                          <a:latin typeface="Google Sans Text"/>
                        </a:rPr>
                        <a:t>Cambios en Auth, Pagos, BD/Migraciones, APIs públicas, Core del negocio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b="1">
                          <a:effectLst/>
                          <a:latin typeface="Google Sans Text"/>
                        </a:rPr>
                        <a:t>Revisión profunda por staff interno.</a:t>
                      </a:r>
                      <a:endParaRPr lang="es-ES"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0627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Medio (Sampling / 20%)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Ajustes de lógica secundaria, nuevos reportes, refactorizaciones menores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b="1">
                          <a:effectLst/>
                          <a:latin typeface="Google Sans Text"/>
                        </a:rPr>
                        <a:t>Muestreo aleatorio o revisión rápida.</a:t>
                      </a:r>
                      <a:endParaRPr lang="es-ES"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663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Bajo (0% Manual)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>
                          <a:effectLst/>
                          <a:latin typeface="Google Sans Text"/>
                        </a:rPr>
                        <a:t>Cambios cosméticos de UI, textos, actualización de dependencias menores con tests en verde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effectLst/>
                          <a:latin typeface="Google Sans Text"/>
                        </a:rPr>
                        <a:t>Aprobación automática vía CI/CD.</a:t>
                      </a:r>
                      <a:endParaRPr lang="es-ES" dirty="0"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78587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47875" y="2203251"/>
            <a:ext cx="8858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MX" sz="900" b="0" i="0" u="none" dirty="0">
                <a:solidFill>
                  <a:srgbClr val="2563EB"/>
                </a:solidFill>
                <a:latin typeface="Inter SemiBold"/>
              </a:rPr>
              <a:t>CAPACIDAD</a:t>
            </a:r>
            <a:endParaRPr sz="900" b="0" i="0" u="none" dirty="0">
              <a:solidFill>
                <a:srgbClr val="2563EB"/>
              </a:solidFill>
              <a:latin typeface="Inter Semi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47875" y="2460426"/>
            <a:ext cx="8501062" cy="525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lang="es-MX" sz="3600" b="1" i="0" u="none" dirty="0">
                <a:solidFill>
                  <a:srgbClr val="0F172A"/>
                </a:solidFill>
                <a:latin typeface="Inter"/>
              </a:rPr>
              <a:t>Staff requerido</a:t>
            </a:r>
            <a:endParaRPr sz="360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45517" y="3108196"/>
            <a:ext cx="8096250" cy="3359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MX" sz="1500" b="1" dirty="0">
                <a:solidFill>
                  <a:srgbClr val="64748B"/>
                </a:solidFill>
                <a:latin typeface="Inter"/>
              </a:rPr>
              <a:t>Escenario 1: </a:t>
            </a:r>
          </a:p>
          <a:p>
            <a:pPr algn="l">
              <a:lnSpc>
                <a:spcPts val="2400"/>
              </a:lnSpc>
            </a:pPr>
            <a:r>
              <a:rPr lang="es-MX" sz="1500" dirty="0">
                <a:solidFill>
                  <a:srgbClr val="64748B"/>
                </a:solidFill>
                <a:latin typeface="Inter"/>
              </a:rPr>
              <a:t>25 </a:t>
            </a:r>
            <a:r>
              <a:rPr lang="es-MX" sz="1500" dirty="0" err="1">
                <a:solidFill>
                  <a:srgbClr val="64748B"/>
                </a:solidFill>
                <a:latin typeface="Inter"/>
              </a:rPr>
              <a:t>Pull</a:t>
            </a:r>
            <a:r>
              <a:rPr lang="es-MX" sz="1500" dirty="0">
                <a:solidFill>
                  <a:srgbClr val="64748B"/>
                </a:solidFill>
                <a:latin typeface="Inter"/>
              </a:rPr>
              <a:t> </a:t>
            </a:r>
            <a:r>
              <a:rPr lang="es-MX" sz="1500" dirty="0" err="1">
                <a:solidFill>
                  <a:srgbClr val="64748B"/>
                </a:solidFill>
                <a:latin typeface="Inter"/>
              </a:rPr>
              <a:t>Request</a:t>
            </a:r>
            <a:r>
              <a:rPr lang="es-MX" sz="1500" dirty="0">
                <a:solidFill>
                  <a:srgbClr val="64748B"/>
                </a:solidFill>
                <a:latin typeface="Inter"/>
              </a:rPr>
              <a:t> Semanales</a:t>
            </a:r>
          </a:p>
          <a:p>
            <a:pPr algn="l">
              <a:lnSpc>
                <a:spcPts val="2400"/>
              </a:lnSpc>
            </a:pPr>
            <a:r>
              <a:rPr lang="es-MX" sz="1500" dirty="0">
                <a:solidFill>
                  <a:srgbClr val="64748B"/>
                </a:solidFill>
                <a:latin typeface="Inter"/>
              </a:rPr>
              <a:t>Esquema Centralizado</a:t>
            </a:r>
          </a:p>
          <a:p>
            <a:pPr algn="l">
              <a:lnSpc>
                <a:spcPts val="2400"/>
              </a:lnSpc>
            </a:pPr>
            <a:r>
              <a:rPr lang="es-MX" sz="1500" b="0" i="0" u="none" dirty="0">
                <a:solidFill>
                  <a:srgbClr val="64748B"/>
                </a:solidFill>
                <a:latin typeface="Inter"/>
              </a:rPr>
              <a:t>Cantidad de horas por revisión de micro 2-4 horas </a:t>
            </a:r>
          </a:p>
          <a:p>
            <a:pPr algn="l">
              <a:lnSpc>
                <a:spcPts val="2400"/>
              </a:lnSpc>
            </a:pPr>
            <a:r>
              <a:rPr lang="es-MX" sz="1500" dirty="0">
                <a:solidFill>
                  <a:srgbClr val="64748B"/>
                </a:solidFill>
                <a:latin typeface="Inter"/>
              </a:rPr>
              <a:t>Cantidad de Staff requerido: 2-3 personas full time</a:t>
            </a:r>
          </a:p>
          <a:p>
            <a:pPr algn="l">
              <a:lnSpc>
                <a:spcPts val="2400"/>
              </a:lnSpc>
            </a:pPr>
            <a:endParaRPr lang="es-MX" sz="1500" b="0" i="0" u="none" dirty="0">
              <a:solidFill>
                <a:srgbClr val="64748B"/>
              </a:solidFill>
              <a:latin typeface="Inter"/>
            </a:endParaRPr>
          </a:p>
          <a:p>
            <a:pPr algn="l">
              <a:lnSpc>
                <a:spcPts val="2400"/>
              </a:lnSpc>
            </a:pPr>
            <a:r>
              <a:rPr lang="es-MX" sz="1500" b="1" dirty="0">
                <a:solidFill>
                  <a:srgbClr val="64748B"/>
                </a:solidFill>
                <a:latin typeface="Inter"/>
              </a:rPr>
              <a:t>Escenario 2:</a:t>
            </a:r>
          </a:p>
          <a:p>
            <a:pPr algn="l">
              <a:lnSpc>
                <a:spcPts val="2400"/>
              </a:lnSpc>
            </a:pPr>
            <a:r>
              <a:rPr lang="es-MX" sz="1500" b="0" i="0" u="none" dirty="0">
                <a:solidFill>
                  <a:srgbClr val="64748B"/>
                </a:solidFill>
                <a:latin typeface="Inter"/>
              </a:rPr>
              <a:t>25 </a:t>
            </a:r>
            <a:r>
              <a:rPr lang="es-MX" sz="1500" b="0" i="0" u="none" dirty="0" err="1">
                <a:solidFill>
                  <a:srgbClr val="64748B"/>
                </a:solidFill>
                <a:latin typeface="Inter"/>
              </a:rPr>
              <a:t>Pull</a:t>
            </a:r>
            <a:r>
              <a:rPr lang="es-MX"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lang="es-MX" sz="1500" b="0" i="0" u="none" dirty="0" err="1">
                <a:solidFill>
                  <a:srgbClr val="64748B"/>
                </a:solidFill>
                <a:latin typeface="Inter"/>
              </a:rPr>
              <a:t>Request</a:t>
            </a:r>
            <a:r>
              <a:rPr lang="es-MX" sz="1500" b="0" i="0" u="none" dirty="0">
                <a:solidFill>
                  <a:srgbClr val="64748B"/>
                </a:solidFill>
                <a:latin typeface="Inter"/>
              </a:rPr>
              <a:t> Semanales</a:t>
            </a:r>
          </a:p>
          <a:p>
            <a:pPr algn="l">
              <a:lnSpc>
                <a:spcPts val="2400"/>
              </a:lnSpc>
            </a:pPr>
            <a:r>
              <a:rPr lang="es-MX" sz="1500" dirty="0">
                <a:solidFill>
                  <a:srgbClr val="64748B"/>
                </a:solidFill>
                <a:latin typeface="Inter"/>
              </a:rPr>
              <a:t>Esquema Distribuido</a:t>
            </a:r>
          </a:p>
          <a:p>
            <a:pPr algn="l">
              <a:lnSpc>
                <a:spcPts val="2400"/>
              </a:lnSpc>
            </a:pPr>
            <a:r>
              <a:rPr lang="es-MX" sz="1500" b="0" i="0" u="none" dirty="0">
                <a:solidFill>
                  <a:srgbClr val="64748B"/>
                </a:solidFill>
                <a:latin typeface="Inter"/>
              </a:rPr>
              <a:t>Cantidad de horas de revisión por micro: 1 a 2 horas</a:t>
            </a:r>
          </a:p>
          <a:p>
            <a:pPr algn="l">
              <a:lnSpc>
                <a:spcPts val="2400"/>
              </a:lnSpc>
            </a:pPr>
            <a:r>
              <a:rPr lang="es-MX" sz="1500" dirty="0">
                <a:solidFill>
                  <a:srgbClr val="64748B"/>
                </a:solidFill>
                <a:latin typeface="Inter"/>
              </a:rPr>
              <a:t>Cantidad de Staff requerido: 2 personas medio tiempo</a:t>
            </a:r>
            <a:endParaRPr sz="1500" b="0" i="0" u="none" dirty="0">
              <a:solidFill>
                <a:srgbClr val="64748B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993865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47875" y="2203251"/>
            <a:ext cx="8858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2563EB"/>
                </a:solidFill>
                <a:latin typeface="Inter SemiBold"/>
              </a:rPr>
              <a:t>CONCLUSIÓN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47875" y="2460426"/>
            <a:ext cx="8501062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600" b="1" i="0" u="none">
                <a:solidFill>
                  <a:srgbClr val="0F172A"/>
                </a:solidFill>
                <a:latin typeface="Inter"/>
              </a:rPr>
              <a:t>Escalar Calidad sin Perder la Velocidad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875" y="3740348"/>
            <a:ext cx="8096250" cy="8971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MX" sz="1500" b="0" i="0" u="none" dirty="0" err="1">
                <a:solidFill>
                  <a:srgbClr val="64748B"/>
                </a:solidFill>
                <a:latin typeface="Inter"/>
              </a:rPr>
              <a:t>Definicion</a:t>
            </a:r>
            <a:r>
              <a:rPr lang="es-MX" sz="1500" b="0" i="0" u="none" dirty="0">
                <a:solidFill>
                  <a:srgbClr val="64748B"/>
                </a:solidFill>
                <a:latin typeface="Inter"/>
              </a:rPr>
              <a:t> de responsabilidades claras, automatización de la mayor parte de vida de ciclo de desarrollo,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Implementar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CODEOWNERS por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dominio</a:t>
            </a:r>
            <a:r>
              <a:rPr lang="en-US" sz="1500" b="0" i="0" u="none" dirty="0">
                <a:solidFill>
                  <a:srgbClr val="64748B"/>
                </a:solidFill>
                <a:latin typeface="Inter"/>
              </a:rPr>
              <a:t>/canal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lang="es-MX" sz="1500" b="0" i="0" u="none" dirty="0">
                <a:solidFill>
                  <a:srgbClr val="64748B"/>
                </a:solidFill>
                <a:latin typeface="Inter"/>
              </a:rPr>
              <a:t>y </a:t>
            </a:r>
            <a:r>
              <a:rPr lang="en-US" sz="1500" b="0" i="0" u="none" dirty="0" err="1">
                <a:solidFill>
                  <a:srgbClr val="64748B"/>
                </a:solidFill>
                <a:latin typeface="Inter"/>
              </a:rPr>
              <a:t>mantener</a:t>
            </a:r>
            <a:r>
              <a:rPr lang="en-US" sz="1500" b="0" i="0" u="none" dirty="0">
                <a:solidFill>
                  <a:srgbClr val="64748B"/>
                </a:solidFill>
                <a:latin typeface="Inter"/>
              </a:rPr>
              <a:t> un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ritmo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de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despliegues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ágil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,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incluso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con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equipos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de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desarrollo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reducidos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522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538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Google Sans Text</vt:lpstr>
      <vt:lpstr>Inter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Administrator</dc:creator>
  <cp:keywords/>
  <dc:description>generated using python-pptx</dc:description>
  <cp:lastModifiedBy>Salvador Perez</cp:lastModifiedBy>
  <cp:revision>4</cp:revision>
  <dcterms:created xsi:type="dcterms:W3CDTF">2013-01-27T09:14:16Z</dcterms:created>
  <dcterms:modified xsi:type="dcterms:W3CDTF">2026-08-11T23:30:54Z</dcterms:modified>
  <cp:category/>
</cp:coreProperties>
</file>