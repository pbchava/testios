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image" Target="../media/image-3-4.png"/><Relationship Id="rId7" Type="http://schemas.openxmlformats.org/officeDocument/2006/relationships/image" Target="../media/image-3-4.png"/><Relationship Id="rId8" Type="http://schemas.openxmlformats.org/officeDocument/2006/relationships/image" Target="../media/image-3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6.png"/><Relationship Id="rId8" Type="http://schemas.openxmlformats.org/officeDocument/2006/relationships/image" Target="../media/image-5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MIGRACIÓN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Bitbucket a GitHub Actions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CI/CD, Reglas de Aprobación y Configuración del Entorno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434840" y="4709160"/>
            <a:ext cx="1051560" cy="1051560"/>
          </a:xfrm>
          <a:prstGeom prst="ellipse">
            <a:avLst/>
          </a:prstGeom>
          <a:solidFill>
            <a:srgbClr val="2A5A9E"/>
          </a:solidFill>
          <a:ln/>
        </p:spPr>
      </p:sp>
      <p:pic>
        <p:nvPicPr>
          <p:cNvPr id="6" name="Image 0" descr="icons/bitbu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1441" y="4945761"/>
            <a:ext cx="578358" cy="5783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4709160"/>
            <a:ext cx="1051560" cy="1051560"/>
          </a:xfrm>
          <a:prstGeom prst="ellipse">
            <a:avLst/>
          </a:prstGeom>
          <a:solidFill>
            <a:srgbClr val="8250DF"/>
          </a:solidFill>
          <a:ln/>
        </p:spPr>
      </p:sp>
      <p:pic>
        <p:nvPicPr>
          <p:cNvPr id="8" name="Image 1" descr="icons/githu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2" y="4919472"/>
            <a:ext cx="630936" cy="6309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623560" y="5234940"/>
            <a:ext cx="196596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dash"/>
          </a:ln>
        </p:spPr>
      </p:sp>
      <p:sp>
        <p:nvSpPr>
          <p:cNvPr id="10" name="Shape 6"/>
          <p:cNvSpPr/>
          <p:nvPr/>
        </p:nvSpPr>
        <p:spPr>
          <a:xfrm>
            <a:off x="6405372" y="503377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2" descr="icons/arrowRight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956" y="51343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77640" y="58704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7269480" y="58704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Bitbucket → GitHub Actions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Migración de Pipelines (CI/CD)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0" cy="0"/>
          </a:xfrm>
          <a:prstGeom prst="line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0969DA"/>
          </a:solidFill>
          <a:ln/>
        </p:spPr>
      </p:sp>
      <p:pic>
        <p:nvPicPr>
          <p:cNvPr id="5" name="Image 0" descr="icons/f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15201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389888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 de configuración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664208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bitbucket-pipelines.yml se reemplaza por workflows en .github/workflows/.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0969DA"/>
          </a:solidFill>
          <a:ln/>
        </p:spPr>
      </p:sp>
      <p:pic>
        <p:nvPicPr>
          <p:cNvPr id="9" name="Image 1" descr="icons/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261747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487168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 pruebas con Maven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2761488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la compilación y ejecución de pruebas unitarias mediante Maven.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0969DA"/>
          </a:solidFill>
          <a:ln/>
        </p:spPr>
      </p:sp>
      <p:pic>
        <p:nvPicPr>
          <p:cNvPr id="13" name="Image 2" descr="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371475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584448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seguridad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3858768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estático de código con SonarQube y escaneo de vulnerabilidades con Snyk.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98932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1B1F24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245352" y="1618488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.github/workflows/ci.yml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45352" y="1929384"/>
            <a:ext cx="5157216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CI Pipeline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[push]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uses: actions/checkout@v4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uses: actions/setup-java@v4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with: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java-version: '17'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distribution: 'temurin'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Build and Test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run: mvn clean verify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SonarQube Scan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uses: SonarSource/sonarqube-scan-action@v5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env: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SONAR_TOKEN: ${{ secrets.SONAR_TOKEN }}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Snyk Security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uses: snyk/actions/maven@v4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env: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SNYK_TOKEN: ${{ secrets.SNYK_TOKEN }}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Bitbucket → GitHub Actions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de Aprobación en Pull Requests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8250DF"/>
          </a:solidFill>
          <a:ln/>
        </p:spPr>
      </p:sp>
      <p:pic>
        <p:nvPicPr>
          <p:cNvPr id="4" name="Image 0" descr="icons/ba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1520190"/>
            <a:ext cx="251460" cy="2514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1389888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 Rules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70432" y="1664208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en la rama principal (main / master) para impedir merges directos.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8250DF"/>
          </a:solidFill>
          <a:ln/>
        </p:spPr>
      </p:sp>
      <p:pic>
        <p:nvPicPr>
          <p:cNvPr id="8" name="Image 1" descr="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270891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2578608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obligatoria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170432" y="2852928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de revisión por pares y verificación exitosa de los checks del pipeline antes del merge.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8250DF"/>
          </a:solidFill>
          <a:ln/>
        </p:spPr>
      </p:sp>
      <p:pic>
        <p:nvPicPr>
          <p:cNvPr id="12" name="Image 2" descr="icons/histor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389763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70432" y="3767328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Restablecimiento automático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170432" y="4041648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aprobaciones se descartan automáticamente si se añaden nuevos commits.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98932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6263640" y="16184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 ›  Branches  ›  Branch protection rules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263640" y="1984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name pattern:  main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63640" y="246888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8250DF"/>
          </a:solidFill>
          <a:ln/>
        </p:spPr>
      </p:sp>
      <p:pic>
        <p:nvPicPr>
          <p:cNvPr id="19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2500884"/>
            <a:ext cx="173736" cy="1737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11112" y="241401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 pull request before merging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63640" y="318211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8250DF"/>
          </a:solidFill>
          <a:ln/>
        </p:spPr>
      </p:sp>
      <p:pic>
        <p:nvPicPr>
          <p:cNvPr id="22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644" y="3214116"/>
            <a:ext cx="173736" cy="1737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11112" y="31272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approvals (mínimo 1 revisor)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263640" y="389534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8250DF"/>
          </a:solidFill>
          <a:ln/>
        </p:spPr>
      </p:sp>
      <p:pic>
        <p:nvPicPr>
          <p:cNvPr id="25" name="Image 5" descr="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644" y="3927348"/>
            <a:ext cx="173736" cy="17373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11112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 stale pull request approvals when new commits are pushed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6263640" y="460857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8250DF"/>
          </a:solidFill>
          <a:ln/>
        </p:spPr>
      </p:sp>
      <p:pic>
        <p:nvPicPr>
          <p:cNvPr id="28" name="Image 6" descr="icons/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5644" y="4640580"/>
            <a:ext cx="173736" cy="17373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611112" y="45537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status checks to pass before merging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6263640" y="53218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8250DF"/>
          </a:solidFill>
          <a:ln/>
        </p:spPr>
      </p:sp>
      <p:pic>
        <p:nvPicPr>
          <p:cNvPr id="31" name="Image 7" descr="icons/chec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5644" y="5353812"/>
            <a:ext cx="173736" cy="17373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611112" y="52669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review from Code Owners</a:t>
            </a:r>
            <a:endParaRPr lang="en-US" sz="1150" dirty="0"/>
          </a:p>
        </p:txBody>
      </p:sp>
      <p:sp>
        <p:nvSpPr>
          <p:cNvPr id="33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Bitbucket → GitHub Actions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Revisiones Granular con CODEOWNERS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0969DA"/>
          </a:solidFill>
          <a:ln/>
        </p:spPr>
      </p:sp>
      <p:pic>
        <p:nvPicPr>
          <p:cNvPr id="4" name="Image 0" descr="icons/bran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1657350"/>
            <a:ext cx="251460" cy="2514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1527048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Revisores por directorio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70432" y="1801368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grupos o revisores específicos según directorios o archivos sensibles mediante .github/CODEOWNERS.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0969DA"/>
          </a:solidFill>
          <a:ln/>
        </p:spPr>
      </p:sp>
      <p:pic>
        <p:nvPicPr>
          <p:cNvPr id="8" name="Image 1" descr="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289179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2761488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obligatoria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170432" y="3035808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de requerir aprobación obligatoria del propietario del código (Require review from Code Owners).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4114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04672" y="4279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4672" y="4663440"/>
            <a:ext cx="329184" cy="329184"/>
          </a:xfrm>
          <a:prstGeom prst="ellipse">
            <a:avLst/>
          </a:prstGeom>
          <a:solidFill>
            <a:srgbClr val="8250DF"/>
          </a:solidFill>
          <a:ln/>
        </p:spPr>
      </p:sp>
      <p:pic>
        <p:nvPicPr>
          <p:cNvPr id="14" name="Image 2" descr="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736592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46177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@equipo-seguridad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123444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/src/main/resources/sec/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804672" y="5285232"/>
            <a:ext cx="329184" cy="329184"/>
          </a:xfrm>
          <a:prstGeom prst="ellipse">
            <a:avLst/>
          </a:prstGeom>
          <a:solidFill>
            <a:srgbClr val="8250DF"/>
          </a:solidFill>
          <a:ln/>
        </p:spPr>
      </p:sp>
      <p:pic>
        <p:nvPicPr>
          <p:cNvPr id="18" name="Image 3" descr="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358384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523951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@equipo-arquitectura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1234440" y="546811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/docs/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5989320" y="1554480"/>
            <a:ext cx="5669280" cy="2697480"/>
          </a:xfrm>
          <a:prstGeom prst="roundRect">
            <a:avLst>
              <a:gd name="adj" fmla="val 2712"/>
            </a:avLst>
          </a:prstGeom>
          <a:solidFill>
            <a:srgbClr val="1B1F24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245352" y="1755648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.github/CODEOWNERS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245352" y="2066544"/>
            <a:ext cx="515721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Regla general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@mi-equipo-general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Carpetas de arquitectura o seguridad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/src/main/resources/sec/ @equipo-seguridad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/docs/ @equipo-arquitectura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989320" y="4434840"/>
            <a:ext cx="5669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245352" y="4690872"/>
            <a:ext cx="457200" cy="457200"/>
          </a:xfrm>
          <a:prstGeom prst="ellipse">
            <a:avLst/>
          </a:prstGeom>
          <a:solidFill>
            <a:srgbClr val="8250DF"/>
          </a:solidFill>
          <a:ln/>
        </p:spPr>
      </p:sp>
      <p:pic>
        <p:nvPicPr>
          <p:cNvPr id="26" name="Image 4" descr="icons/ey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80060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85432" y="4709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Precedencia de reglas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885432" y="505663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última coincidencia con la ruta del archivo modificado define quién debe revisarlo, sin importar el orden en que aparezcan las reglas anteriores.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Bitbucket → GitHub Actions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Trabajo en el IDE (IntelliJ IDEA)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10512"/>
            <a:ext cx="548640" cy="548640"/>
          </a:xfrm>
          <a:prstGeom prst="ellipse">
            <a:avLst/>
          </a:prstGeom>
          <a:solidFill>
            <a:srgbClr val="0969DA"/>
          </a:solidFill>
          <a:ln/>
        </p:spPr>
      </p:sp>
      <p:pic>
        <p:nvPicPr>
          <p:cNvPr id="5" name="Image 0" descr="icons/bran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3852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204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0D7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4672" y="246888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remoto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 set-url origin &lt;URL_GITHUB&gt;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096512" y="2377440"/>
            <a:ext cx="274320" cy="274320"/>
          </a:xfrm>
          <a:prstGeom prst="ellipse">
            <a:avLst/>
          </a:prstGeom>
          <a:solidFill>
            <a:srgbClr val="8B949E"/>
          </a:solidFill>
          <a:ln/>
        </p:spPr>
      </p:sp>
      <p:pic>
        <p:nvPicPr>
          <p:cNvPr id="10" name="Image 1" descr="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441448"/>
            <a:ext cx="146304" cy="14630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89120" y="15544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45152" y="1810512"/>
            <a:ext cx="548640" cy="548640"/>
          </a:xfrm>
          <a:prstGeom prst="ellipse">
            <a:avLst/>
          </a:prstGeom>
          <a:solidFill>
            <a:srgbClr val="0969DA"/>
          </a:solidFill>
          <a:ln/>
        </p:spPr>
      </p:sp>
      <p:pic>
        <p:nvPicPr>
          <p:cNvPr id="13" name="Image 2" descr="icons/ke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93852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609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0D7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4645152" y="246888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645152" y="283464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 Acceso Personal (PAT) o clave SSH.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936992" y="2377440"/>
            <a:ext cx="274320" cy="274320"/>
          </a:xfrm>
          <a:prstGeom prst="ellipse">
            <a:avLst/>
          </a:prstGeom>
          <a:solidFill>
            <a:srgbClr val="8B949E"/>
          </a:solidFill>
          <a:ln/>
        </p:spPr>
      </p:sp>
      <p:pic>
        <p:nvPicPr>
          <p:cNvPr id="18" name="Image 3" descr="icons/arrowRigh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441448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229600" y="15544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485632" y="1810512"/>
            <a:ext cx="548640" cy="548640"/>
          </a:xfrm>
          <a:prstGeom prst="ellipse">
            <a:avLst/>
          </a:prstGeom>
          <a:solidFill>
            <a:srgbClr val="8250DF"/>
          </a:solidFill>
          <a:ln/>
        </p:spPr>
      </p:sp>
      <p:pic>
        <p:nvPicPr>
          <p:cNvPr id="21" name="Image 4" descr="icons/plu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1938528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2014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0D7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16"/>
          <p:cNvSpPr/>
          <p:nvPr/>
        </p:nvSpPr>
        <p:spPr>
          <a:xfrm>
            <a:off x="8485632" y="246888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de GitHub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8485632" y="283464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del plugin oficial para revisar y aprobar PRs sin salir del IDE.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48640" y="3794760"/>
            <a:ext cx="11091672" cy="2331720"/>
          </a:xfrm>
          <a:prstGeom prst="roundRect">
            <a:avLst>
              <a:gd name="adj" fmla="val 3137"/>
            </a:avLst>
          </a:prstGeom>
          <a:solidFill>
            <a:srgbClr val="24292F"/>
          </a:solidFill>
          <a:ln/>
        </p:spPr>
      </p:sp>
      <p:sp>
        <p:nvSpPr>
          <p:cNvPr id="26" name="Text 19"/>
          <p:cNvSpPr/>
          <p:nvPr/>
        </p:nvSpPr>
        <p:spPr>
          <a:xfrm>
            <a:off x="822960" y="39776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— Plugin de GitHub para IntelliJ IDEA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822960" y="4416552"/>
            <a:ext cx="365760" cy="365760"/>
          </a:xfrm>
          <a:prstGeom prst="ellipse">
            <a:avLst/>
          </a:prstGeom>
          <a:solidFill>
            <a:srgbClr val="8250DF"/>
          </a:solidFill>
          <a:ln/>
        </p:spPr>
      </p:sp>
      <p:pic>
        <p:nvPicPr>
          <p:cNvPr id="28" name="Image 5" descr="icons/pullreques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498848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325880" y="4379976"/>
            <a:ext cx="8348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workflow de build a GitHub Actions  #142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9262872" y="4379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requerido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822960" y="4919472"/>
            <a:ext cx="365760" cy="365760"/>
          </a:xfrm>
          <a:prstGeom prst="ellipse">
            <a:avLst/>
          </a:prstGeom>
          <a:solidFill>
            <a:srgbClr val="8250DF"/>
          </a:solidFill>
          <a:ln/>
        </p:spPr>
      </p:sp>
      <p:pic>
        <p:nvPicPr>
          <p:cNvPr id="32" name="Image 6" descr="icons/pullreques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" y="5001768"/>
            <a:ext cx="201168" cy="20116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325880" y="4882896"/>
            <a:ext cx="8348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CODEOWNERS para módulo de seguridad  #138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9262872" y="48828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822960" y="5422392"/>
            <a:ext cx="365760" cy="365760"/>
          </a:xfrm>
          <a:prstGeom prst="ellipse">
            <a:avLst/>
          </a:prstGeom>
          <a:solidFill>
            <a:srgbClr val="8250DF"/>
          </a:solidFill>
          <a:ln/>
        </p:spPr>
      </p:sp>
      <p:pic>
        <p:nvPicPr>
          <p:cNvPr id="36" name="Image 7" descr="icons/pullreques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" y="5504688"/>
            <a:ext cx="201168" cy="20116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325880" y="5385816"/>
            <a:ext cx="8348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timeout en pipeline de integración  #135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9262872" y="53858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solicitados</a:t>
            </a:r>
            <a:endParaRPr lang="en-US" sz="1050" dirty="0"/>
          </a:p>
        </p:txBody>
      </p:sp>
      <p:sp>
        <p:nvSpPr>
          <p:cNvPr id="39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Bitbucket → GitHub Actions</a:t>
            </a:r>
            <a:endParaRPr lang="en-US" sz="900" dirty="0"/>
          </a:p>
        </p:txBody>
      </p:sp>
      <p:sp>
        <p:nvSpPr>
          <p:cNvPr id="40" name="Text 3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Trabajo: Fases de la Migración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fases, actividades granularizadas y responsables asignados a lo largo de 5 semanas.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52144" y="3246120"/>
            <a:ext cx="9884664" cy="0"/>
          </a:xfrm>
          <a:prstGeom prst="line">
            <a:avLst/>
          </a:prstGeom>
          <a:noFill/>
          <a:ln w="254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962656"/>
            <a:ext cx="566928" cy="566928"/>
          </a:xfrm>
          <a:prstGeom prst="ellipse">
            <a:avLst/>
          </a:prstGeom>
          <a:solidFill>
            <a:srgbClr val="8250DF"/>
          </a:solidFill>
          <a:ln/>
        </p:spPr>
      </p:sp>
      <p:pic>
        <p:nvPicPr>
          <p:cNvPr id="6" name="Image 0" descr="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310438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" y="154533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y Análisis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74320" y="23682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98114" y="2962656"/>
            <a:ext cx="566928" cy="566928"/>
          </a:xfrm>
          <a:prstGeom prst="ellipse">
            <a:avLst/>
          </a:prstGeom>
          <a:solidFill>
            <a:srgbClr val="8250DF"/>
          </a:solidFill>
          <a:ln/>
        </p:spPr>
      </p:sp>
      <p:pic>
        <p:nvPicPr>
          <p:cNvPr id="11" name="Image 1" descr="icons/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846" y="310438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70682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315718" y="375818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de Código y Pipelines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315718" y="45354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2-3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11012" y="2962656"/>
            <a:ext cx="566928" cy="566928"/>
          </a:xfrm>
          <a:prstGeom prst="ellipse">
            <a:avLst/>
          </a:prstGeom>
          <a:solidFill>
            <a:srgbClr val="8250DF"/>
          </a:solidFill>
          <a:ln/>
        </p:spPr>
      </p:sp>
      <p:pic>
        <p:nvPicPr>
          <p:cNvPr id="16" name="Image 2" descr="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44" y="310438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8358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928616" y="154533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Gobernanza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928616" y="23682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3-4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423910" y="2962656"/>
            <a:ext cx="566928" cy="566928"/>
          </a:xfrm>
          <a:prstGeom prst="ellipse">
            <a:avLst/>
          </a:prstGeom>
          <a:solidFill>
            <a:srgbClr val="8250DF"/>
          </a:solidFill>
          <a:ln/>
        </p:spPr>
      </p:sp>
      <p:pic>
        <p:nvPicPr>
          <p:cNvPr id="21" name="Image 3" descr="icons/lapto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5642" y="310438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96478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541514" y="375818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en el Entorno de Desarrollo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541514" y="45354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11036808" y="2962656"/>
            <a:ext cx="566928" cy="566928"/>
          </a:xfrm>
          <a:prstGeom prst="ellipse">
            <a:avLst/>
          </a:prstGeom>
          <a:solidFill>
            <a:srgbClr val="8250DF"/>
          </a:solidFill>
          <a:ln/>
        </p:spPr>
      </p:sp>
      <p:pic>
        <p:nvPicPr>
          <p:cNvPr id="26" name="Image 4" descr="icons/fla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8540" y="3104388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009376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585655" y="154533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Validación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585655" y="23682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Bitbucket → GitHub Actions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Detallado (I)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1 y 2 — Preparación, Análisis y Migración de Pipelines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7324344"/>
                <a:gridCol w="1965960"/>
                <a:gridCol w="1143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50D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Preparación y Análisis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50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9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50D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Inventario de repositorios y ramas activas en Bitbucket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DevOps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días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Relevamiento de bitbucket-pipelines.yml y dependencias por proyecto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DevOps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días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Definición de estructura, equipos y permisos en GitHub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días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Mapeo de secretos y variables de entorno a GitHub Secrets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DevOps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50D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Migración de Código y Pipelines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50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9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2-3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50D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Migración de repositorios (git clone --mirror + push a GitHub)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DevOps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días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Conversión de bitbucket-pipelines.yml a workflows .github/workflows/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DevOps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días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 de build y pruebas unitarias con Maven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días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 de SonarQube y Snyk en el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DevOps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días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de ejecución en rama de desarrollo (dry-run)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días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4672" y="5477256"/>
            <a:ext cx="420624" cy="420624"/>
          </a:xfrm>
          <a:prstGeom prst="ellipse">
            <a:avLst/>
          </a:prstGeom>
          <a:solidFill>
            <a:srgbClr val="0969DA"/>
          </a:solidFill>
          <a:ln/>
        </p:spPr>
      </p:sp>
      <p:pic>
        <p:nvPicPr>
          <p:cNvPr id="7" name="Image 0" descr="icons/clip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5577840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5257800"/>
            <a:ext cx="10177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acumulada: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actividades en 3 semanas ·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clave: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 migrados con pipelines de CI/CD operativos en GitHub Actions.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Bitbucket → GitHub Actions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Detallado (II)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3, 4 y 5 — Seguridad, Adopción en el IDE y Cierre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7324344"/>
                <a:gridCol w="1965960"/>
                <a:gridCol w="1143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50D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y Gobernanza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50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9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3-4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50D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 de Branch Protection Rules en main/master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DevOps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Definición y publicación del archivo CODEOWNERS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Arquitectura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días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 de “Require review from Code Owners”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DevOps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con Pull Request de prueba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50D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Adopción en el Entorno de Desarrollo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50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9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50D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Actualización de remotos en IntelliJ IDEA (git remote set-url)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 de autenticación PAT/SSH por desarrollador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Instalación y configuración del plugin de GitHub en IntelliJ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Sesión de capacitación y guía rápida para el equipo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50D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 y Validación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50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9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50D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Congelamiento de Bitbucket (modo solo lectura)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 tests sobre pipelines migrados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días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final de reglas de aprobación y CODEOWNERS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DevOps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Documentación final y retrospectiva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6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Bitbucket → GitHub Actions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2026-08-17T22:38:07Z</dcterms:created>
  <dcterms:modified xsi:type="dcterms:W3CDTF">2026-08-17T22:38:07Z</dcterms:modified>
</cp:coreProperties>
</file>